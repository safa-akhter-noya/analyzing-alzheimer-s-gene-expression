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456" y="-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37DE3-A761-4E64-8EE2-398138EC3B73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63196-DD5A-46C5-B428-BC39EF6CE1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314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63196-DD5A-46C5-B428-BC39EF6CE1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8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63196-DD5A-46C5-B428-BC39EF6CE19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30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386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12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65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48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508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69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37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284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61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669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01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url?q=https%3A%2F%2Fftp.ebi.ac.uk%2Fbiostudies%2Ffire%2FE-MTAB-%2F094%2FE-MTAB-6094%2FFiles%2FNorm_NR.tx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CC0F6F-E549-31E5-8B73-5F1BBAFE92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250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FFFFD-7DAD-84BD-4990-83C294716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 b="1">
                <a:solidFill>
                  <a:srgbClr val="FFFFFF"/>
                </a:solidFill>
              </a:rPr>
              <a:t>Analyzing Alzheimer’s Gene Expression</a:t>
            </a:r>
            <a:r>
              <a:rPr lang="en-US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BA037C-9617-6C31-6A64-7DA90AF14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By Safa Akhter Noya</a:t>
            </a:r>
          </a:p>
          <a:p>
            <a:r>
              <a:rPr lang="en-US" dirty="0">
                <a:solidFill>
                  <a:srgbClr val="FFFFFF"/>
                </a:solidFill>
              </a:rPr>
              <a:t>BIO 2110: Programming for Biologists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13547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710C6-0F07-12DF-2916-7953B20F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4041648" cy="1928741"/>
          </a:xfrm>
        </p:spPr>
        <p:txBody>
          <a:bodyPr>
            <a:normAutofit/>
          </a:bodyPr>
          <a:lstStyle/>
          <a:p>
            <a:r>
              <a:rPr lang="en-US" dirty="0"/>
              <a:t>Purpose of the Project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 descr="DNA">
            <a:extLst>
              <a:ext uri="{FF2B5EF4-FFF2-40B4-BE49-F238E27FC236}">
                <a16:creationId xmlns:a16="http://schemas.microsoft.com/office/drawing/2014/main" id="{ECF950E6-ABD9-AEDB-4B2C-40E8C04C25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1111" y="3046576"/>
            <a:ext cx="2969276" cy="29692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39EC-4587-F1E6-C470-9CC2CE739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952" y="968377"/>
            <a:ext cx="6144768" cy="5010912"/>
          </a:xfrm>
        </p:spPr>
        <p:txBody>
          <a:bodyPr>
            <a:normAutofit/>
          </a:bodyPr>
          <a:lstStyle/>
          <a:p>
            <a:r>
              <a:rPr lang="en-US" b="1"/>
              <a:t>Goal:</a:t>
            </a:r>
            <a:r>
              <a:rPr lang="en-US"/>
              <a:t> Identify early gene expression differences between Alzheimer’s (PDA) and control (CDA) samples.</a:t>
            </a:r>
          </a:p>
          <a:p>
            <a:r>
              <a:rPr lang="en-US" b="1"/>
              <a:t>Why this matters:</a:t>
            </a:r>
            <a:r>
              <a:rPr lang="en-US"/>
              <a:t> Alzheimer’s disease affects </a:t>
            </a:r>
            <a:r>
              <a:rPr lang="en-US" b="1"/>
              <a:t>immune</a:t>
            </a:r>
            <a:r>
              <a:rPr lang="en-US"/>
              <a:t> and </a:t>
            </a:r>
            <a:r>
              <a:rPr lang="en-US" b="1"/>
              <a:t>vascular</a:t>
            </a:r>
            <a:r>
              <a:rPr lang="en-US"/>
              <a:t> pathways. Gene expression profiling helps reveal how these pathways become disrupted.</a:t>
            </a:r>
          </a:p>
          <a:p>
            <a:r>
              <a:rPr lang="en-US" b="1"/>
              <a:t>Genes analyzed:</a:t>
            </a:r>
            <a:endParaRPr lang="en-US"/>
          </a:p>
          <a:p>
            <a:r>
              <a:rPr lang="en-US" b="1"/>
              <a:t>IL17C</a:t>
            </a:r>
            <a:r>
              <a:rPr lang="en-US"/>
              <a:t> — immune‑related cytokine</a:t>
            </a:r>
          </a:p>
          <a:p>
            <a:r>
              <a:rPr lang="en-US" b="1"/>
              <a:t>TEK</a:t>
            </a:r>
            <a:r>
              <a:rPr lang="en-US"/>
              <a:t> — vascular stability</a:t>
            </a:r>
          </a:p>
          <a:p>
            <a:r>
              <a:rPr lang="en-US" b="1"/>
              <a:t>CCL4</a:t>
            </a:r>
            <a:r>
              <a:rPr lang="en-US"/>
              <a:t> — inflammatory chemokine</a:t>
            </a:r>
          </a:p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423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7D4BB-95E4-8AF4-E889-207603AE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2672" y="909638"/>
            <a:ext cx="5848694" cy="1318062"/>
          </a:xfrm>
        </p:spPr>
        <p:txBody>
          <a:bodyPr>
            <a:normAutofit/>
          </a:bodyPr>
          <a:lstStyle/>
          <a:p>
            <a:r>
              <a:rPr lang="en-US" dirty="0"/>
              <a:t>Tools &amp; Dataset</a:t>
            </a:r>
          </a:p>
        </p:txBody>
      </p:sp>
      <p:pic>
        <p:nvPicPr>
          <p:cNvPr id="7" name="Graphic 6" descr="Laptop Secure">
            <a:extLst>
              <a:ext uri="{FF2B5EF4-FFF2-40B4-BE49-F238E27FC236}">
                <a16:creationId xmlns:a16="http://schemas.microsoft.com/office/drawing/2014/main" id="{6F4F9D48-A75F-702A-D8E4-39C691F6F7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0101" y="1679090"/>
            <a:ext cx="4455010" cy="445501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80661" y="723900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1B720F88-EB5F-0F6B-DEE7-DF201502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2672" y="2276474"/>
            <a:ext cx="5848694" cy="38850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300" b="1" dirty="0"/>
              <a:t>Dataset: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i="1" dirty="0"/>
              <a:t>Norm_NR.txt</a:t>
            </a:r>
            <a:r>
              <a:rPr lang="en-US" sz="1300" dirty="0"/>
              <a:t> microarray dataset</a:t>
            </a:r>
          </a:p>
          <a:p>
            <a:pPr>
              <a:lnSpc>
                <a:spcPct val="100000"/>
              </a:lnSpc>
            </a:pPr>
            <a:r>
              <a:rPr lang="en-US" sz="1300" b="1" dirty="0"/>
              <a:t>Tools Used: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/>
              <a:t>Google </a:t>
            </a:r>
            <a:r>
              <a:rPr lang="en-US" sz="1300" dirty="0" err="1"/>
              <a:t>Colab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/>
              <a:t>Python</a:t>
            </a:r>
          </a:p>
          <a:p>
            <a:pPr>
              <a:lnSpc>
                <a:spcPct val="100000"/>
              </a:lnSpc>
            </a:pPr>
            <a:r>
              <a:rPr lang="en-US" sz="1300" dirty="0"/>
              <a:t>pandas</a:t>
            </a:r>
          </a:p>
          <a:p>
            <a:pPr>
              <a:lnSpc>
                <a:spcPct val="100000"/>
              </a:lnSpc>
            </a:pPr>
            <a:r>
              <a:rPr lang="en-US" sz="1300" dirty="0"/>
              <a:t>matplotlib</a:t>
            </a:r>
          </a:p>
          <a:p>
            <a:pPr>
              <a:lnSpc>
                <a:spcPct val="100000"/>
              </a:lnSpc>
            </a:pPr>
            <a:r>
              <a:rPr lang="en-US" sz="1300" b="1" dirty="0"/>
              <a:t>Main Steps: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/>
              <a:t>Load + clean dataset</a:t>
            </a:r>
          </a:p>
          <a:p>
            <a:pPr>
              <a:lnSpc>
                <a:spcPct val="100000"/>
              </a:lnSpc>
            </a:pPr>
            <a:r>
              <a:rPr lang="en-US" sz="1300" dirty="0"/>
              <a:t>Extract genes of interest</a:t>
            </a:r>
          </a:p>
          <a:p>
            <a:pPr>
              <a:lnSpc>
                <a:spcPct val="100000"/>
              </a:lnSpc>
            </a:pPr>
            <a:r>
              <a:rPr lang="en-US" sz="1300" dirty="0"/>
              <a:t>Calculate </a:t>
            </a:r>
            <a:r>
              <a:rPr lang="en-US" sz="1300" dirty="0" err="1"/>
              <a:t>Control_mean</a:t>
            </a:r>
            <a:r>
              <a:rPr lang="en-US" sz="1300" dirty="0"/>
              <a:t>, </a:t>
            </a:r>
            <a:r>
              <a:rPr lang="en-US" sz="1300" dirty="0" err="1"/>
              <a:t>Alz_mean</a:t>
            </a:r>
            <a:r>
              <a:rPr lang="en-US" sz="1300" dirty="0"/>
              <a:t>, </a:t>
            </a:r>
            <a:r>
              <a:rPr lang="en-US" sz="1300" dirty="0" err="1"/>
              <a:t>FoldChange</a:t>
            </a:r>
            <a:endParaRPr lang="en-US" sz="1300" dirty="0"/>
          </a:p>
          <a:p>
            <a:pPr>
              <a:lnSpc>
                <a:spcPct val="100000"/>
              </a:lnSpc>
            </a:pPr>
            <a:r>
              <a:rPr lang="en-US" sz="1300" dirty="0"/>
              <a:t>Generate tables + bar chart</a:t>
            </a:r>
          </a:p>
          <a:p>
            <a:pPr>
              <a:lnSpc>
                <a:spcPct val="10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628550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39B0D-A866-11ED-9AA9-838D59DE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80776" cy="11802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Table 1: Mean Expression Values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495065-8864-87FB-2BCC-254769963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984EE473-52DC-31D8-EFBD-D30D2E3087C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664960" y="2346960"/>
            <a:ext cx="4819903" cy="37754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All three genes show higher expression in Alzheimer’s samples.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CCL4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has the highest expression across both probes.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TEK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shows moderate expression.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IL17C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shows lower expression but still increases.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10D051C-EED4-439E-EEE3-8D19546E5C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9369015"/>
              </p:ext>
            </p:extLst>
          </p:nvPr>
        </p:nvGraphicFramePr>
        <p:xfrm>
          <a:off x="800098" y="3202094"/>
          <a:ext cx="5549904" cy="2045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73232">
                  <a:extLst>
                    <a:ext uri="{9D8B030D-6E8A-4147-A177-3AD203B41FA5}">
                      <a16:colId xmlns:a16="http://schemas.microsoft.com/office/drawing/2014/main" val="2013157755"/>
                    </a:ext>
                  </a:extLst>
                </a:gridCol>
                <a:gridCol w="1605686">
                  <a:extLst>
                    <a:ext uri="{9D8B030D-6E8A-4147-A177-3AD203B41FA5}">
                      <a16:colId xmlns:a16="http://schemas.microsoft.com/office/drawing/2014/main" val="3201892471"/>
                    </a:ext>
                  </a:extLst>
                </a:gridCol>
                <a:gridCol w="1727762">
                  <a:extLst>
                    <a:ext uri="{9D8B030D-6E8A-4147-A177-3AD203B41FA5}">
                      <a16:colId xmlns:a16="http://schemas.microsoft.com/office/drawing/2014/main" val="3417236190"/>
                    </a:ext>
                  </a:extLst>
                </a:gridCol>
                <a:gridCol w="1343224">
                  <a:extLst>
                    <a:ext uri="{9D8B030D-6E8A-4147-A177-3AD203B41FA5}">
                      <a16:colId xmlns:a16="http://schemas.microsoft.com/office/drawing/2014/main" val="2748515301"/>
                    </a:ext>
                  </a:extLst>
                </a:gridCol>
              </a:tblGrid>
              <a:tr h="4091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9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GeneSymbol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Control_mean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Alz_mean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extLst>
                  <a:ext uri="{0D108BD9-81ED-4DB2-BD59-A6C34878D82A}">
                    <a16:rowId xmlns:a16="http://schemas.microsoft.com/office/drawing/2014/main" val="3327422031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7758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IL17C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6.695537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6.873259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extLst>
                  <a:ext uri="{0D108BD9-81ED-4DB2-BD59-A6C34878D82A}">
                    <a16:rowId xmlns:a16="http://schemas.microsoft.com/office/drawing/2014/main" val="1369135991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19102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CCL4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13.094788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13.626846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extLst>
                  <a:ext uri="{0D108BD9-81ED-4DB2-BD59-A6C34878D82A}">
                    <a16:rowId xmlns:a16="http://schemas.microsoft.com/office/drawing/2014/main" val="4007047575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22894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CCL4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13.570006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14.077097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extLst>
                  <a:ext uri="{0D108BD9-81ED-4DB2-BD59-A6C34878D82A}">
                    <a16:rowId xmlns:a16="http://schemas.microsoft.com/office/drawing/2014/main" val="1415629605"/>
                  </a:ext>
                </a:extLst>
              </a:tr>
              <a:tr h="4091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28609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TEK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5.387521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5.689869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572" marR="10572" marT="10572" marB="10572" anchor="ctr"/>
                </a:tc>
                <a:extLst>
                  <a:ext uri="{0D108BD9-81ED-4DB2-BD59-A6C34878D82A}">
                    <a16:rowId xmlns:a16="http://schemas.microsoft.com/office/drawing/2014/main" val="20786553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37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B86B8-96D3-DCF3-E3BB-0332B7E0F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Table 2: Fold Change Values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E1891600-977D-A3FA-AC3B-A4EB022C015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Positive fold change = higher expression in AD.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CCL4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shows the strongest upregulation → strong inflammatory signal.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TEK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shows moderate increase → vascular involvement.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</a:rPr>
              <a:t>IL17C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 shows a smaller but consistent rise.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A539446-26E1-B335-F9E2-C562DA231B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16704"/>
              </p:ext>
            </p:extLst>
          </p:nvPr>
        </p:nvGraphicFramePr>
        <p:xfrm>
          <a:off x="800100" y="2928257"/>
          <a:ext cx="6072189" cy="24733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0483">
                  <a:extLst>
                    <a:ext uri="{9D8B030D-6E8A-4147-A177-3AD203B41FA5}">
                      <a16:colId xmlns:a16="http://schemas.microsoft.com/office/drawing/2014/main" val="3732045495"/>
                    </a:ext>
                  </a:extLst>
                </a:gridCol>
                <a:gridCol w="2460266">
                  <a:extLst>
                    <a:ext uri="{9D8B030D-6E8A-4147-A177-3AD203B41FA5}">
                      <a16:colId xmlns:a16="http://schemas.microsoft.com/office/drawing/2014/main" val="2504721821"/>
                    </a:ext>
                  </a:extLst>
                </a:gridCol>
                <a:gridCol w="2331440">
                  <a:extLst>
                    <a:ext uri="{9D8B030D-6E8A-4147-A177-3AD203B41FA5}">
                      <a16:colId xmlns:a16="http://schemas.microsoft.com/office/drawing/2014/main" val="4125537855"/>
                    </a:ext>
                  </a:extLst>
                </a:gridCol>
              </a:tblGrid>
              <a:tr h="4946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9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7126" marR="17126" marT="17126" marB="1712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 err="1">
                          <a:effectLst/>
                        </a:rPr>
                        <a:t>GeneSymbol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FoldChange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extLst>
                  <a:ext uri="{0D108BD9-81ED-4DB2-BD59-A6C34878D82A}">
                    <a16:rowId xmlns:a16="http://schemas.microsoft.com/office/drawing/2014/main" val="1134215497"/>
                  </a:ext>
                </a:extLst>
              </a:tr>
              <a:tr h="494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7758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IL17C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0.177721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extLst>
                  <a:ext uri="{0D108BD9-81ED-4DB2-BD59-A6C34878D82A}">
                    <a16:rowId xmlns:a16="http://schemas.microsoft.com/office/drawing/2014/main" val="1204855575"/>
                  </a:ext>
                </a:extLst>
              </a:tr>
              <a:tr h="494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19102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CCL4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0.532058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extLst>
                  <a:ext uri="{0D108BD9-81ED-4DB2-BD59-A6C34878D82A}">
                    <a16:rowId xmlns:a16="http://schemas.microsoft.com/office/drawing/2014/main" val="306159422"/>
                  </a:ext>
                </a:extLst>
              </a:tr>
              <a:tr h="494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22894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CCL4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0.507091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extLst>
                  <a:ext uri="{0D108BD9-81ED-4DB2-BD59-A6C34878D82A}">
                    <a16:rowId xmlns:a16="http://schemas.microsoft.com/office/drawing/2014/main" val="3878668014"/>
                  </a:ext>
                </a:extLst>
              </a:tr>
              <a:tr h="4946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28609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>
                          <a:effectLst/>
                        </a:rPr>
                        <a:t>TEK</a:t>
                      </a:r>
                      <a:endParaRPr lang="en-US" sz="19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900" kern="100" dirty="0">
                          <a:effectLst/>
                        </a:rPr>
                        <a:t>0.302348</a:t>
                      </a:r>
                      <a:endParaRPr lang="en-US" sz="19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126" marR="17126" marT="17126" marB="17126" anchor="ctr"/>
                </a:tc>
                <a:extLst>
                  <a:ext uri="{0D108BD9-81ED-4DB2-BD59-A6C34878D82A}">
                    <a16:rowId xmlns:a16="http://schemas.microsoft.com/office/drawing/2014/main" val="864205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180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A3D0D-29C8-6578-5EA1-28E204FE3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Table 3: Summary Table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1">
            <a:extLst>
              <a:ext uri="{FF2B5EF4-FFF2-40B4-BE49-F238E27FC236}">
                <a16:creationId xmlns:a16="http://schemas.microsoft.com/office/drawing/2014/main" id="{3BA7AD82-42B7-37FE-91E8-07735AE56B9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b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All three genes are upregulated in AD.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Two CCL4 probes show nearly identical results → increases confidence.</a:t>
            </a:r>
          </a:p>
          <a:p>
            <a:pPr marL="0" marR="0" lvl="0" indent="-22860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</a:rPr>
              <a:t>TEK and IL17C also show meaningful increases.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898451A-06AC-B37A-708B-460843935F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7633161"/>
              </p:ext>
            </p:extLst>
          </p:nvPr>
        </p:nvGraphicFramePr>
        <p:xfrm>
          <a:off x="800100" y="3061242"/>
          <a:ext cx="6072190" cy="17560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652">
                  <a:extLst>
                    <a:ext uri="{9D8B030D-6E8A-4147-A177-3AD203B41FA5}">
                      <a16:colId xmlns:a16="http://schemas.microsoft.com/office/drawing/2014/main" val="1892352099"/>
                    </a:ext>
                  </a:extLst>
                </a:gridCol>
                <a:gridCol w="1378449">
                  <a:extLst>
                    <a:ext uri="{9D8B030D-6E8A-4147-A177-3AD203B41FA5}">
                      <a16:colId xmlns:a16="http://schemas.microsoft.com/office/drawing/2014/main" val="835514036"/>
                    </a:ext>
                  </a:extLst>
                </a:gridCol>
                <a:gridCol w="1483249">
                  <a:extLst>
                    <a:ext uri="{9D8B030D-6E8A-4147-A177-3AD203B41FA5}">
                      <a16:colId xmlns:a16="http://schemas.microsoft.com/office/drawing/2014/main" val="1460264847"/>
                    </a:ext>
                  </a:extLst>
                </a:gridCol>
                <a:gridCol w="1153130">
                  <a:extLst>
                    <a:ext uri="{9D8B030D-6E8A-4147-A177-3AD203B41FA5}">
                      <a16:colId xmlns:a16="http://schemas.microsoft.com/office/drawing/2014/main" val="2936449156"/>
                    </a:ext>
                  </a:extLst>
                </a:gridCol>
                <a:gridCol w="1307710">
                  <a:extLst>
                    <a:ext uri="{9D8B030D-6E8A-4147-A177-3AD203B41FA5}">
                      <a16:colId xmlns:a16="http://schemas.microsoft.com/office/drawing/2014/main" val="238560083"/>
                    </a:ext>
                  </a:extLst>
                </a:gridCol>
              </a:tblGrid>
              <a:tr h="3512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en-US" sz="1700" kern="100"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GeneSymbol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Control_mean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Alz_mean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FoldChange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extLst>
                  <a:ext uri="{0D108BD9-81ED-4DB2-BD59-A6C34878D82A}">
                    <a16:rowId xmlns:a16="http://schemas.microsoft.com/office/drawing/2014/main" val="876113981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7758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IL17C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6.695537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6.873259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0.177721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extLst>
                  <a:ext uri="{0D108BD9-81ED-4DB2-BD59-A6C34878D82A}">
                    <a16:rowId xmlns:a16="http://schemas.microsoft.com/office/drawing/2014/main" val="4035127795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19102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CCL4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13.094788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13.626846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0.532058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extLst>
                  <a:ext uri="{0D108BD9-81ED-4DB2-BD59-A6C34878D82A}">
                    <a16:rowId xmlns:a16="http://schemas.microsoft.com/office/drawing/2014/main" val="528946806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22894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CCL4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13.570006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14.077097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0.507091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extLst>
                  <a:ext uri="{0D108BD9-81ED-4DB2-BD59-A6C34878D82A}">
                    <a16:rowId xmlns:a16="http://schemas.microsoft.com/office/drawing/2014/main" val="2776279364"/>
                  </a:ext>
                </a:extLst>
              </a:tr>
              <a:tr h="3512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28609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TEK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5.387521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>
                          <a:effectLst/>
                        </a:rPr>
                        <a:t>5.689869</a:t>
                      </a:r>
                      <a:endParaRPr lang="en-US" sz="17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700" kern="100" dirty="0">
                          <a:effectLst/>
                        </a:rPr>
                        <a:t>0.302348</a:t>
                      </a:r>
                      <a:endParaRPr lang="en-US" sz="17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075" marR="9075" marT="9075" marB="9075" anchor="ctr"/>
                </a:tc>
                <a:extLst>
                  <a:ext uri="{0D108BD9-81ED-4DB2-BD59-A6C34878D82A}">
                    <a16:rowId xmlns:a16="http://schemas.microsoft.com/office/drawing/2014/main" val="2071240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3006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7823-8CD7-7E57-B4D5-8F2B74B0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Figure 1: Bar Chart of Fold Change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C574F6-0242-B1F7-16D3-384DDB558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b="1"/>
              <a:t>CCL4</a:t>
            </a:r>
            <a:r>
              <a:rPr lang="en-US"/>
              <a:t> has the largest fold change.</a:t>
            </a:r>
          </a:p>
          <a:p>
            <a:r>
              <a:rPr lang="en-US" b="1"/>
              <a:t>TEK</a:t>
            </a:r>
            <a:r>
              <a:rPr lang="en-US"/>
              <a:t> is moderately upregulated.</a:t>
            </a:r>
          </a:p>
          <a:p>
            <a:r>
              <a:rPr lang="en-US" b="1"/>
              <a:t>IL17C</a:t>
            </a:r>
            <a:r>
              <a:rPr lang="en-US"/>
              <a:t> shows a smaller increase.</a:t>
            </a:r>
          </a:p>
          <a:p>
            <a:r>
              <a:rPr lang="en-US"/>
              <a:t>This pattern supports known AD mechanisms: </a:t>
            </a:r>
            <a:r>
              <a:rPr lang="en-US" b="1"/>
              <a:t>inflammation + vascular disruption</a:t>
            </a:r>
            <a:r>
              <a:rPr lang="en-US"/>
              <a:t>.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131A3-5614-C511-7665-F0FCEA7D4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59" y="1270948"/>
            <a:ext cx="5184658" cy="43891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71157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CD6DF-BFEC-F846-2ECF-0BE72F66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>
            <a:normAutofit/>
          </a:bodyPr>
          <a:lstStyle/>
          <a:p>
            <a:r>
              <a:rPr lang="en-US" dirty="0"/>
              <a:t>Biological interpretation</a:t>
            </a:r>
          </a:p>
        </p:txBody>
      </p:sp>
      <p:pic>
        <p:nvPicPr>
          <p:cNvPr id="6" name="Picture 5" descr="Scan of a human brain in a neurology clinic">
            <a:extLst>
              <a:ext uri="{FF2B5EF4-FFF2-40B4-BE49-F238E27FC236}">
                <a16:creationId xmlns:a16="http://schemas.microsoft.com/office/drawing/2014/main" id="{63887C8B-FF29-E781-8EF9-54E8A64F1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809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99CE1CD4-BB20-6833-4BEB-FDF2EAD60B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90838" y="2236843"/>
            <a:ext cx="5201121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CCL4 upregulation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heightened inflammatory signaling in AD.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TEK increase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potential blood‑brain barrier and vascular instability.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IL17C increase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→ immune involvement, though less pronounced.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Consistent upregulation across two CCL4 probes increases confidence.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Results align with current AD research showing immune and vascular dysregulation.</a:t>
            </a:r>
          </a:p>
        </p:txBody>
      </p:sp>
    </p:spTree>
    <p:extLst>
      <p:ext uri="{BB962C8B-B14F-4D97-AF65-F5344CB8AC3E}">
        <p14:creationId xmlns:p14="http://schemas.microsoft.com/office/powerpoint/2010/main" val="1734615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653B9-6597-8F18-ED01-68B7B665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en-US" sz="3600"/>
              <a:t>Summary of findings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2">
            <a:extLst>
              <a:ext uri="{FF2B5EF4-FFF2-40B4-BE49-F238E27FC236}">
                <a16:creationId xmlns:a16="http://schemas.microsoft.com/office/drawing/2014/main" id="{DA7E35D1-C667-76FA-2F6C-63142E7A7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387600"/>
            <a:ext cx="3799763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IL17C, TEK, and CCL4 are all 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upregulated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 Alzheimer’s samples.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CCL4 shows the strongest increase → major inflammatory role.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TEK suggests vascular dysfunction.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Findings highlight potential biomarkers for further study.</a:t>
            </a:r>
          </a:p>
        </p:txBody>
      </p:sp>
      <p:pic>
        <p:nvPicPr>
          <p:cNvPr id="15" name="Picture 14" descr="Molecular structure and periodic table on a desk">
            <a:extLst>
              <a:ext uri="{FF2B5EF4-FFF2-40B4-BE49-F238E27FC236}">
                <a16:creationId xmlns:a16="http://schemas.microsoft.com/office/drawing/2014/main" id="{0524E08D-01C4-01A3-19C0-109BDF00E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004" b="-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833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31C2250-90D4-99DC-3A54-38DAFFA7E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2806615" cy="3543764"/>
          </a:xfrm>
        </p:spPr>
        <p:txBody>
          <a:bodyPr>
            <a:normAutofit/>
          </a:bodyPr>
          <a:lstStyle/>
          <a:p>
            <a:r>
              <a:rPr lang="en-US" sz="3600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276AD4D-CD82-A615-8E5F-3B3C95C9B4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02149" y="978558"/>
            <a:ext cx="7591859" cy="50914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Abed, S., et al. (2025).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Immune‑Related Gene Biomarkers…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Molecular Neurobiology.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Alzheimer’s Association. (2024).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Biological mechanisms of Alzheimer’s disease.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Heneka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M. T., et al. (2015).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Innate immunity in Alzheimer’s disease.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Nature Immunology.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Software Foundation. (2024).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Python 3 documentation.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McKinney, W. (2022).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pandas documentation.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Matplotlib Development Team. (2024).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Matplotlib documentation.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dirty="0">
                <a:hlinkClick r:id="rId2"/>
              </a:rPr>
              <a:t>https://ftp.ebi.ac.uk/biostudies/fire/E-MTAB-/094/E-MTAB-6094/Files/Norm_NR.txt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9600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543</Words>
  <Application>Microsoft Office PowerPoint</Application>
  <PresentationFormat>Widescreen</PresentationFormat>
  <Paragraphs>120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Calisto MT</vt:lpstr>
      <vt:lpstr>Univers Condensed</vt:lpstr>
      <vt:lpstr>ChronicleVTI</vt:lpstr>
      <vt:lpstr>Analyzing Alzheimer’s Gene Expression </vt:lpstr>
      <vt:lpstr>Purpose of the Project</vt:lpstr>
      <vt:lpstr>Tools &amp; Dataset</vt:lpstr>
      <vt:lpstr>Table 1: Mean Expression Values</vt:lpstr>
      <vt:lpstr>Table 2: Fold Change Values</vt:lpstr>
      <vt:lpstr>Table 3: Summary Table</vt:lpstr>
      <vt:lpstr>Figure 1: Bar Chart of Fold Change</vt:lpstr>
      <vt:lpstr>Biological interpretation</vt:lpstr>
      <vt:lpstr>Summary of findings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Safa Akhter Noya</dc:creator>
  <cp:lastModifiedBy>Safa Akhter Noya</cp:lastModifiedBy>
  <cp:revision>1</cp:revision>
  <dcterms:created xsi:type="dcterms:W3CDTF">2026-05-15T18:13:26Z</dcterms:created>
  <dcterms:modified xsi:type="dcterms:W3CDTF">2026-05-15T18:43:41Z</dcterms:modified>
</cp:coreProperties>
</file>